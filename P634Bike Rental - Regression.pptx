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83" r:id="rId2"/>
    <p:sldId id="257" r:id="rId3"/>
    <p:sldId id="258" r:id="rId4"/>
    <p:sldId id="274" r:id="rId5"/>
    <p:sldId id="259" r:id="rId6"/>
    <p:sldId id="260" r:id="rId7"/>
    <p:sldId id="261" r:id="rId8"/>
    <p:sldId id="262" r:id="rId9"/>
    <p:sldId id="263" r:id="rId10"/>
    <p:sldId id="264" r:id="rId11"/>
    <p:sldId id="265" r:id="rId12"/>
    <p:sldId id="266" r:id="rId13"/>
    <p:sldId id="267" r:id="rId14"/>
    <p:sldId id="268" r:id="rId15"/>
    <p:sldId id="269" r:id="rId16"/>
    <p:sldId id="275" r:id="rId17"/>
    <p:sldId id="270" r:id="rId18"/>
    <p:sldId id="271" r:id="rId19"/>
    <p:sldId id="272" r:id="rId20"/>
    <p:sldId id="277" r:id="rId21"/>
    <p:sldId id="278" r:id="rId22"/>
    <p:sldId id="279" r:id="rId23"/>
    <p:sldId id="273"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6" autoAdjust="0"/>
    <p:restoredTop sz="94660"/>
  </p:normalViewPr>
  <p:slideViewPr>
    <p:cSldViewPr snapToGrid="0">
      <p:cViewPr varScale="1">
        <p:scale>
          <a:sx n="62" d="100"/>
          <a:sy n="62"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3EF464-68B7-409C-B637-14400DF51E93}" type="datetimeFigureOut">
              <a:rPr lang="en-IN" smtClean="0"/>
              <a:t>15-02-2026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C203C-3FFE-45BB-BE64-66F2A9401CCA}" type="slidenum">
              <a:rPr lang="en-IN" smtClean="0"/>
              <a:t>‹#›</a:t>
            </a:fld>
            <a:endParaRPr lang="en-IN"/>
          </a:p>
        </p:txBody>
      </p:sp>
    </p:spTree>
    <p:extLst>
      <p:ext uri="{BB962C8B-B14F-4D97-AF65-F5344CB8AC3E}">
        <p14:creationId xmlns:p14="http://schemas.microsoft.com/office/powerpoint/2010/main" val="187678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499111A-F7D3-44AB-88AC-3676AB4E4D9A}"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3AEF1-3B47-4FF8-AD71-44EF1D5BD0E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532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99111A-F7D3-44AB-88AC-3676AB4E4D9A}"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2377568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99111A-F7D3-44AB-88AC-3676AB4E4D9A}"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3AEF1-3B47-4FF8-AD71-44EF1D5BD0E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82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99111A-F7D3-44AB-88AC-3676AB4E4D9A}"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1647334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99111A-F7D3-44AB-88AC-3676AB4E4D9A}" type="datetimeFigureOut">
              <a:rPr lang="en-IN" smtClean="0"/>
              <a:t>15-02-2026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2830932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99111A-F7D3-44AB-88AC-3676AB4E4D9A}" type="datetimeFigureOut">
              <a:rPr lang="en-IN" smtClean="0"/>
              <a:t>15-02-2026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2145680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99111A-F7D3-44AB-88AC-3676AB4E4D9A}" type="datetimeFigureOut">
              <a:rPr lang="en-IN" smtClean="0"/>
              <a:t>15-02-2026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2295762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99111A-F7D3-44AB-88AC-3676AB4E4D9A}"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2248917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99111A-F7D3-44AB-88AC-3676AB4E4D9A}"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3AEF1-3B47-4FF8-AD71-44EF1D5BD0E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10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99111A-F7D3-44AB-88AC-3676AB4E4D9A}"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3AEF1-3B47-4FF8-AD71-44EF1D5BD0E3}" type="slidenum">
              <a:rPr lang="en-IN" smtClean="0"/>
              <a:t>‹#›</a:t>
            </a:fld>
            <a:endParaRPr lang="en-IN"/>
          </a:p>
        </p:txBody>
      </p:sp>
    </p:spTree>
    <p:extLst>
      <p:ext uri="{BB962C8B-B14F-4D97-AF65-F5344CB8AC3E}">
        <p14:creationId xmlns:p14="http://schemas.microsoft.com/office/powerpoint/2010/main" val="1350377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99111A-F7D3-44AB-88AC-3676AB4E4D9A}"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3AEF1-3B47-4FF8-AD71-44EF1D5BD0E3}"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160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499111A-F7D3-44AB-88AC-3676AB4E4D9A}" type="datetimeFigureOut">
              <a:rPr lang="en-IN" smtClean="0"/>
              <a:t>15-02-2026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613AEF1-3B47-4FF8-AD71-44EF1D5BD0E3}"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22794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0CC6A-75C7-E603-53CF-620DCC476813}"/>
              </a:ext>
            </a:extLst>
          </p:cNvPr>
          <p:cNvSpPr>
            <a:spLocks noGrp="1"/>
          </p:cNvSpPr>
          <p:nvPr>
            <p:ph type="ctrTitle"/>
          </p:nvPr>
        </p:nvSpPr>
        <p:spPr/>
        <p:txBody>
          <a:bodyPr>
            <a:normAutofit/>
          </a:bodyPr>
          <a:lstStyle/>
          <a:p>
            <a:r>
              <a:rPr lang="en-IN" b="1" dirty="0"/>
              <a:t>P634-Bike Rental  Regression</a:t>
            </a:r>
          </a:p>
        </p:txBody>
      </p:sp>
    </p:spTree>
    <p:extLst>
      <p:ext uri="{BB962C8B-B14F-4D97-AF65-F5344CB8AC3E}">
        <p14:creationId xmlns:p14="http://schemas.microsoft.com/office/powerpoint/2010/main" val="2819130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028E-64F3-09FA-D3A6-4E46A3C7304B}"/>
              </a:ext>
            </a:extLst>
          </p:cNvPr>
          <p:cNvSpPr>
            <a:spLocks noGrp="1"/>
          </p:cNvSpPr>
          <p:nvPr>
            <p:ph type="title"/>
          </p:nvPr>
        </p:nvSpPr>
        <p:spPr>
          <a:xfrm>
            <a:off x="954127" y="569637"/>
            <a:ext cx="10058400" cy="1450757"/>
          </a:xfrm>
        </p:spPr>
        <p:txBody>
          <a:bodyPr/>
          <a:lstStyle/>
          <a:p>
            <a:r>
              <a:rPr lang="en-US" b="1" dirty="0"/>
              <a:t>Mentor and Teammates</a:t>
            </a:r>
            <a:endParaRPr lang="en-IN" b="1" dirty="0"/>
          </a:p>
        </p:txBody>
      </p:sp>
      <p:sp>
        <p:nvSpPr>
          <p:cNvPr id="3" name="Content Placeholder 2">
            <a:extLst>
              <a:ext uri="{FF2B5EF4-FFF2-40B4-BE49-F238E27FC236}">
                <a16:creationId xmlns:a16="http://schemas.microsoft.com/office/drawing/2014/main" id="{B3F5601E-49F6-DE2E-E7FB-9B1D68FF4031}"/>
              </a:ext>
            </a:extLst>
          </p:cNvPr>
          <p:cNvSpPr>
            <a:spLocks noGrp="1"/>
          </p:cNvSpPr>
          <p:nvPr>
            <p:ph idx="1"/>
          </p:nvPr>
        </p:nvSpPr>
        <p:spPr>
          <a:xfrm>
            <a:off x="1179473" y="1938201"/>
            <a:ext cx="10058400" cy="4023360"/>
          </a:xfrm>
        </p:spPr>
        <p:txBody>
          <a:bodyPr>
            <a:normAutofit/>
          </a:bodyPr>
          <a:lstStyle/>
          <a:p>
            <a:r>
              <a:rPr lang="en-US" b="1" u="sng" dirty="0"/>
              <a:t>Team Members :</a:t>
            </a:r>
            <a:r>
              <a:rPr lang="en-US" b="1" dirty="0"/>
              <a:t>                                                 </a:t>
            </a:r>
            <a:r>
              <a:rPr lang="en-US" b="1" u="sng" dirty="0"/>
              <a:t>Mentor :</a:t>
            </a:r>
          </a:p>
          <a:p>
            <a:r>
              <a:rPr lang="en-US" dirty="0"/>
              <a:t>Harsh Joshi                                                        </a:t>
            </a:r>
            <a:r>
              <a:rPr lang="en-US" dirty="0" err="1"/>
              <a:t>Abisheka</a:t>
            </a:r>
            <a:r>
              <a:rPr lang="en-US" dirty="0"/>
              <a:t> Kavuri</a:t>
            </a:r>
          </a:p>
          <a:p>
            <a:r>
              <a:rPr lang="en-US" dirty="0"/>
              <a:t>Hari</a:t>
            </a:r>
          </a:p>
          <a:p>
            <a:r>
              <a:rPr lang="en-US" dirty="0"/>
              <a:t>Sriram</a:t>
            </a:r>
          </a:p>
          <a:p>
            <a:r>
              <a:rPr lang="en-US" dirty="0"/>
              <a:t>Nihar </a:t>
            </a:r>
            <a:r>
              <a:rPr lang="en-US" dirty="0" err="1"/>
              <a:t>Yekkisetti</a:t>
            </a:r>
            <a:endParaRPr lang="en-US" dirty="0"/>
          </a:p>
          <a:p>
            <a:r>
              <a:rPr lang="en-US" dirty="0"/>
              <a:t>Aditya</a:t>
            </a:r>
          </a:p>
          <a:p>
            <a:r>
              <a:rPr lang="en-US" dirty="0"/>
              <a:t>Ali</a:t>
            </a:r>
          </a:p>
          <a:p>
            <a:r>
              <a:rPr lang="en-US" dirty="0"/>
              <a:t>Jyoti Gupta</a:t>
            </a:r>
          </a:p>
          <a:p>
            <a:endParaRPr lang="en-IN" dirty="0"/>
          </a:p>
        </p:txBody>
      </p:sp>
    </p:spTree>
    <p:extLst>
      <p:ext uri="{BB962C8B-B14F-4D97-AF65-F5344CB8AC3E}">
        <p14:creationId xmlns:p14="http://schemas.microsoft.com/office/powerpoint/2010/main" val="114949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9E3B-6447-D6FC-994C-E8934EC18ECD}"/>
              </a:ext>
            </a:extLst>
          </p:cNvPr>
          <p:cNvSpPr>
            <a:spLocks noGrp="1"/>
          </p:cNvSpPr>
          <p:nvPr>
            <p:ph type="title"/>
          </p:nvPr>
        </p:nvSpPr>
        <p:spPr>
          <a:xfrm>
            <a:off x="1096963" y="892778"/>
            <a:ext cx="10058400" cy="1450757"/>
          </a:xfrm>
        </p:spPr>
        <p:txBody>
          <a:bodyPr/>
          <a:lstStyle/>
          <a:p>
            <a:r>
              <a:rPr lang="en-US" b="1" dirty="0"/>
              <a:t>Objective</a:t>
            </a:r>
            <a:br>
              <a:rPr lang="en-US" b="1" dirty="0"/>
            </a:br>
            <a:endParaRPr lang="en-IN" b="1" dirty="0"/>
          </a:p>
        </p:txBody>
      </p:sp>
      <p:sp>
        <p:nvSpPr>
          <p:cNvPr id="5" name="Rectangle 1">
            <a:extLst>
              <a:ext uri="{FF2B5EF4-FFF2-40B4-BE49-F238E27FC236}">
                <a16:creationId xmlns:a16="http://schemas.microsoft.com/office/drawing/2014/main" id="{9C2C011C-B2F4-DA91-4F27-93C21246FF02}"/>
              </a:ext>
            </a:extLst>
          </p:cNvPr>
          <p:cNvSpPr>
            <a:spLocks noGrp="1" noChangeArrowheads="1"/>
          </p:cNvSpPr>
          <p:nvPr>
            <p:ph idx="1"/>
          </p:nvPr>
        </p:nvSpPr>
        <p:spPr bwMode="auto">
          <a:xfrm>
            <a:off x="1036637" y="2028616"/>
            <a:ext cx="992233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The objective of this business problem is to maintain a consistent availability of rental bikes in urban areas by forecasting bike demand. Ensuring a reliable supply of bikes improves public transportation convenience, reduces customer waiting time, and increases overall satisfaction. Accurate demand prediction also enables bike-sharing companies to improve operational efficiency, including managing bike distribution, optimizing pricing strategies, and planning marketing activities, while taking into account external influences such as weather conditions, seasonal variations, and holidays.</a:t>
            </a:r>
          </a:p>
        </p:txBody>
      </p:sp>
    </p:spTree>
    <p:extLst>
      <p:ext uri="{BB962C8B-B14F-4D97-AF65-F5344CB8AC3E}">
        <p14:creationId xmlns:p14="http://schemas.microsoft.com/office/powerpoint/2010/main" val="3451487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5F96C-32DA-B917-8701-E359D5CEEC80}"/>
              </a:ext>
            </a:extLst>
          </p:cNvPr>
          <p:cNvSpPr>
            <a:spLocks noGrp="1"/>
          </p:cNvSpPr>
          <p:nvPr>
            <p:ph type="ctrTitle"/>
          </p:nvPr>
        </p:nvSpPr>
        <p:spPr/>
        <p:txBody>
          <a:bodyPr/>
          <a:lstStyle/>
          <a:p>
            <a:r>
              <a:rPr lang="en-IN" b="1" dirty="0"/>
              <a:t>Exploratory Data Analysis</a:t>
            </a:r>
          </a:p>
        </p:txBody>
      </p:sp>
    </p:spTree>
    <p:extLst>
      <p:ext uri="{BB962C8B-B14F-4D97-AF65-F5344CB8AC3E}">
        <p14:creationId xmlns:p14="http://schemas.microsoft.com/office/powerpoint/2010/main" val="311688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E0D94-6138-9D91-E809-C4F7A7A3F474}"/>
              </a:ext>
            </a:extLst>
          </p:cNvPr>
          <p:cNvSpPr>
            <a:spLocks noGrp="1"/>
          </p:cNvSpPr>
          <p:nvPr>
            <p:ph type="title"/>
          </p:nvPr>
        </p:nvSpPr>
        <p:spPr/>
        <p:txBody>
          <a:bodyPr/>
          <a:lstStyle/>
          <a:p>
            <a:r>
              <a:rPr lang="en-IN" b="1" dirty="0"/>
              <a:t>Dataset </a:t>
            </a:r>
          </a:p>
        </p:txBody>
      </p:sp>
      <p:sp>
        <p:nvSpPr>
          <p:cNvPr id="3" name="Content Placeholder 2">
            <a:extLst>
              <a:ext uri="{FF2B5EF4-FFF2-40B4-BE49-F238E27FC236}">
                <a16:creationId xmlns:a16="http://schemas.microsoft.com/office/drawing/2014/main" id="{7498524D-46E5-3C8B-67D7-5740C1DF7DF8}"/>
              </a:ext>
            </a:extLst>
          </p:cNvPr>
          <p:cNvSpPr>
            <a:spLocks noGrp="1"/>
          </p:cNvSpPr>
          <p:nvPr>
            <p:ph idx="1"/>
          </p:nvPr>
        </p:nvSpPr>
        <p:spPr/>
        <p:txBody>
          <a:bodyPr/>
          <a:lstStyle/>
          <a:p>
            <a:r>
              <a:rPr lang="en-US" dirty="0"/>
              <a:t>The dataset consists of various columns including date, season, year, month, hour , holiday, weekday, working day, weather situation, temperature, normalized feeling temp,</a:t>
            </a:r>
          </a:p>
          <a:p>
            <a:r>
              <a:rPr lang="en-US" dirty="0"/>
              <a:t>Humidity, windspeed, count of casual user, count of registered users and the total no of users including casual and registered users.</a:t>
            </a:r>
          </a:p>
          <a:p>
            <a:endParaRPr lang="en-US" dirty="0"/>
          </a:p>
          <a:p>
            <a:r>
              <a:rPr lang="en-US" b="1" u="sng" dirty="0"/>
              <a:t>The dataset consists of 17379 rows and 16 columns.</a:t>
            </a:r>
          </a:p>
          <a:p>
            <a:endParaRPr lang="en-IN" dirty="0"/>
          </a:p>
        </p:txBody>
      </p:sp>
    </p:spTree>
    <p:extLst>
      <p:ext uri="{BB962C8B-B14F-4D97-AF65-F5344CB8AC3E}">
        <p14:creationId xmlns:p14="http://schemas.microsoft.com/office/powerpoint/2010/main" val="220911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8D84ED-F2EC-DCD1-1AAA-D8ABA564D64C}"/>
              </a:ext>
            </a:extLst>
          </p:cNvPr>
          <p:cNvSpPr txBox="1"/>
          <p:nvPr/>
        </p:nvSpPr>
        <p:spPr>
          <a:xfrm>
            <a:off x="971865" y="888278"/>
            <a:ext cx="9391973" cy="4185761"/>
          </a:xfrm>
          <a:prstGeom prst="rect">
            <a:avLst/>
          </a:prstGeom>
          <a:noFill/>
        </p:spPr>
        <p:txBody>
          <a:bodyPr wrap="square">
            <a:spAutoFit/>
          </a:bodyPr>
          <a:lstStyle/>
          <a:p>
            <a:r>
              <a:rPr lang="en-US" sz="2400" b="1" u="sng" dirty="0"/>
              <a:t>Before proceeding with EDA, we need to perform a few steps to clean the data. The required steps are :</a:t>
            </a:r>
          </a:p>
          <a:p>
            <a:endParaRPr lang="en-US" sz="2400" b="1" u="sng" dirty="0"/>
          </a:p>
          <a:p>
            <a:endParaRPr lang="en-US" b="1" dirty="0"/>
          </a:p>
          <a:p>
            <a:pPr marL="342900" indent="-342900">
              <a:buFont typeface="Wingdings" panose="05000000000000000000" pitchFamily="2" charset="2"/>
              <a:buChar char="Ø"/>
            </a:pPr>
            <a:r>
              <a:rPr lang="en-US" sz="2200" dirty="0"/>
              <a:t>Replacing “ ? ” with </a:t>
            </a:r>
            <a:r>
              <a:rPr lang="en-US" sz="2200" dirty="0" err="1"/>
              <a:t>np.nan</a:t>
            </a:r>
            <a:endParaRPr lang="en-US" sz="2200" dirty="0"/>
          </a:p>
          <a:p>
            <a:pPr marL="342900" indent="-342900">
              <a:buFont typeface="Wingdings" panose="05000000000000000000" pitchFamily="2" charset="2"/>
              <a:buChar char="Ø"/>
            </a:pPr>
            <a:r>
              <a:rPr lang="en-US" sz="2200" dirty="0"/>
              <a:t>Type Conversion of columns</a:t>
            </a:r>
          </a:p>
          <a:p>
            <a:pPr marL="342900" indent="-342900">
              <a:buFont typeface="Wingdings" panose="05000000000000000000" pitchFamily="2" charset="2"/>
              <a:buChar char="Ø"/>
            </a:pPr>
            <a:r>
              <a:rPr lang="en-US" sz="2200" dirty="0"/>
              <a:t>Data Imputation</a:t>
            </a:r>
          </a:p>
          <a:p>
            <a:pPr marL="342900" indent="-342900">
              <a:buFont typeface="Wingdings" panose="05000000000000000000" pitchFamily="2" charset="2"/>
              <a:buChar char="Ø"/>
            </a:pPr>
            <a:r>
              <a:rPr lang="en-US" sz="2200" dirty="0"/>
              <a:t>Drop duplicated values</a:t>
            </a:r>
          </a:p>
          <a:p>
            <a:pPr marL="342900" indent="-342900">
              <a:buFont typeface="Wingdings" panose="05000000000000000000" pitchFamily="2" charset="2"/>
              <a:buChar char="Ø"/>
            </a:pPr>
            <a:r>
              <a:rPr lang="en-US" sz="2200" dirty="0"/>
              <a:t>We can drop instant column</a:t>
            </a:r>
          </a:p>
          <a:p>
            <a:pPr marL="342900" indent="-342900">
              <a:buFont typeface="Wingdings" panose="05000000000000000000" pitchFamily="2" charset="2"/>
              <a:buChar char="Ø"/>
            </a:pPr>
            <a:r>
              <a:rPr lang="en-US" sz="2200" dirty="0"/>
              <a:t>Mapping 0-6 to Sunday to Saturday</a:t>
            </a:r>
          </a:p>
          <a:p>
            <a:pPr marL="342900" indent="-342900">
              <a:buFont typeface="Wingdings" panose="05000000000000000000" pitchFamily="2" charset="2"/>
              <a:buChar char="Ø"/>
            </a:pPr>
            <a:r>
              <a:rPr lang="en-US" sz="2200" dirty="0"/>
              <a:t>Binning of </a:t>
            </a:r>
            <a:r>
              <a:rPr lang="en-US" sz="2200" dirty="0" err="1"/>
              <a:t>hr</a:t>
            </a:r>
            <a:r>
              <a:rPr lang="en-US" sz="2200" dirty="0"/>
              <a:t> col into morning, afternoon, evening, night</a:t>
            </a:r>
          </a:p>
          <a:p>
            <a:pPr marL="342900" indent="-342900">
              <a:buFont typeface="Wingdings" panose="05000000000000000000" pitchFamily="2" charset="2"/>
              <a:buChar char="Ø"/>
            </a:pPr>
            <a:r>
              <a:rPr lang="en-US" sz="2200" dirty="0"/>
              <a:t>Mapping months to month names</a:t>
            </a:r>
          </a:p>
        </p:txBody>
      </p:sp>
    </p:spTree>
    <p:extLst>
      <p:ext uri="{BB962C8B-B14F-4D97-AF65-F5344CB8AC3E}">
        <p14:creationId xmlns:p14="http://schemas.microsoft.com/office/powerpoint/2010/main" val="227427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0C9FC-DAA8-0B2E-BDBD-AEF55B55E77B}"/>
              </a:ext>
            </a:extLst>
          </p:cNvPr>
          <p:cNvSpPr>
            <a:spLocks noGrp="1"/>
          </p:cNvSpPr>
          <p:nvPr>
            <p:ph type="title"/>
          </p:nvPr>
        </p:nvSpPr>
        <p:spPr/>
        <p:txBody>
          <a:bodyPr/>
          <a:lstStyle/>
          <a:p>
            <a:r>
              <a:rPr lang="en-US" b="1" dirty="0"/>
              <a:t>Data Imputation</a:t>
            </a:r>
            <a:endParaRPr lang="en-IN" b="1" dirty="0"/>
          </a:p>
        </p:txBody>
      </p:sp>
      <p:sp>
        <p:nvSpPr>
          <p:cNvPr id="3" name="Content Placeholder 2">
            <a:extLst>
              <a:ext uri="{FF2B5EF4-FFF2-40B4-BE49-F238E27FC236}">
                <a16:creationId xmlns:a16="http://schemas.microsoft.com/office/drawing/2014/main" id="{271E1CF7-F98C-750F-5AA3-F0DAC75B0058}"/>
              </a:ext>
            </a:extLst>
          </p:cNvPr>
          <p:cNvSpPr>
            <a:spLocks noGrp="1"/>
          </p:cNvSpPr>
          <p:nvPr>
            <p:ph idx="1"/>
          </p:nvPr>
        </p:nvSpPr>
        <p:spPr/>
        <p:txBody>
          <a:bodyPr/>
          <a:lstStyle/>
          <a:p>
            <a:pPr>
              <a:buFont typeface="Wingdings" panose="05000000000000000000" pitchFamily="2" charset="2"/>
              <a:buChar char="Ø"/>
            </a:pPr>
            <a:r>
              <a:rPr lang="en-US" dirty="0"/>
              <a:t>We have missing values in season, yr, </a:t>
            </a:r>
            <a:r>
              <a:rPr lang="en-US" dirty="0" err="1"/>
              <a:t>mnth</a:t>
            </a:r>
            <a:r>
              <a:rPr lang="en-US" dirty="0"/>
              <a:t>, holiday, </a:t>
            </a:r>
            <a:r>
              <a:rPr lang="en-US" dirty="0" err="1"/>
              <a:t>workingday</a:t>
            </a:r>
            <a:r>
              <a:rPr lang="en-US" dirty="0"/>
              <a:t>, </a:t>
            </a:r>
            <a:r>
              <a:rPr lang="en-US" dirty="0" err="1"/>
              <a:t>weathersit</a:t>
            </a:r>
            <a:r>
              <a:rPr lang="en-US" dirty="0"/>
              <a:t>, temp, </a:t>
            </a:r>
            <a:r>
              <a:rPr lang="en-US" dirty="0" err="1"/>
              <a:t>atemp</a:t>
            </a:r>
            <a:r>
              <a:rPr lang="en-US" dirty="0"/>
              <a:t>, hum, windspeed, casual a</a:t>
            </a:r>
            <a:r>
              <a:rPr lang="en-IN" dirty="0" err="1"/>
              <a:t>nd</a:t>
            </a:r>
            <a:r>
              <a:rPr lang="en-IN" dirty="0"/>
              <a:t> registered.</a:t>
            </a:r>
          </a:p>
          <a:p>
            <a:pPr>
              <a:buFont typeface="Wingdings" panose="05000000000000000000" pitchFamily="2" charset="2"/>
              <a:buChar char="Ø"/>
            </a:pPr>
            <a:r>
              <a:rPr lang="en-IN" dirty="0"/>
              <a:t> We can use fill method for missing values in yr and </a:t>
            </a:r>
            <a:r>
              <a:rPr lang="en-IN" dirty="0" err="1"/>
              <a:t>mnth</a:t>
            </a:r>
            <a:r>
              <a:rPr lang="en-IN" dirty="0"/>
              <a:t> column.</a:t>
            </a:r>
          </a:p>
          <a:p>
            <a:pPr>
              <a:buFont typeface="Wingdings" panose="05000000000000000000" pitchFamily="2" charset="2"/>
              <a:buChar char="Ø"/>
            </a:pPr>
            <a:r>
              <a:rPr lang="en-IN" dirty="0"/>
              <a:t>For the numeric columns, we can impute values using the median (More robust to outliers) and for the categorical columns, we can use the mode.</a:t>
            </a:r>
          </a:p>
        </p:txBody>
      </p:sp>
    </p:spTree>
    <p:extLst>
      <p:ext uri="{BB962C8B-B14F-4D97-AF65-F5344CB8AC3E}">
        <p14:creationId xmlns:p14="http://schemas.microsoft.com/office/powerpoint/2010/main" val="429604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87898D-C5E8-8868-7B61-C75DC4D45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7446" y="749697"/>
            <a:ext cx="7177108" cy="4393910"/>
          </a:xfrm>
          <a:prstGeom prst="rect">
            <a:avLst/>
          </a:prstGeom>
          <a:ln>
            <a:solidFill>
              <a:schemeClr val="tx1"/>
            </a:solidFill>
          </a:ln>
        </p:spPr>
      </p:pic>
      <p:sp>
        <p:nvSpPr>
          <p:cNvPr id="6" name="TextBox 5">
            <a:extLst>
              <a:ext uri="{FF2B5EF4-FFF2-40B4-BE49-F238E27FC236}">
                <a16:creationId xmlns:a16="http://schemas.microsoft.com/office/drawing/2014/main" id="{92D89592-A10C-3915-F263-9FA2D74313CC}"/>
              </a:ext>
            </a:extLst>
          </p:cNvPr>
          <p:cNvSpPr txBox="1"/>
          <p:nvPr/>
        </p:nvSpPr>
        <p:spPr>
          <a:xfrm>
            <a:off x="1792753" y="5481699"/>
            <a:ext cx="9562454" cy="769441"/>
          </a:xfrm>
          <a:prstGeom prst="rect">
            <a:avLst/>
          </a:prstGeom>
          <a:noFill/>
        </p:spPr>
        <p:txBody>
          <a:bodyPr wrap="square" rtlCol="0">
            <a:spAutoFit/>
          </a:bodyPr>
          <a:lstStyle/>
          <a:p>
            <a:r>
              <a:rPr lang="en-US" sz="2200" b="1" dirty="0"/>
              <a:t>This graph reveals that the maximum no of people rent bikes in the fall, followed by summer, winter and then springer.</a:t>
            </a:r>
            <a:endParaRPr lang="en-IN" sz="2200" b="1" dirty="0"/>
          </a:p>
        </p:txBody>
      </p:sp>
    </p:spTree>
    <p:extLst>
      <p:ext uri="{BB962C8B-B14F-4D97-AF65-F5344CB8AC3E}">
        <p14:creationId xmlns:p14="http://schemas.microsoft.com/office/powerpoint/2010/main" val="4051912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CA3B04-835D-6595-08F4-4C2D35C91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256" y="851850"/>
            <a:ext cx="8747488" cy="4465462"/>
          </a:xfrm>
          <a:prstGeom prst="rect">
            <a:avLst/>
          </a:prstGeom>
          <a:ln>
            <a:solidFill>
              <a:schemeClr val="tx1"/>
            </a:solidFill>
          </a:ln>
        </p:spPr>
      </p:pic>
      <p:sp>
        <p:nvSpPr>
          <p:cNvPr id="4" name="TextBox 3">
            <a:extLst>
              <a:ext uri="{FF2B5EF4-FFF2-40B4-BE49-F238E27FC236}">
                <a16:creationId xmlns:a16="http://schemas.microsoft.com/office/drawing/2014/main" id="{CD1BE3FE-F885-974E-3750-ECF4FBA634C0}"/>
              </a:ext>
            </a:extLst>
          </p:cNvPr>
          <p:cNvSpPr txBox="1"/>
          <p:nvPr/>
        </p:nvSpPr>
        <p:spPr>
          <a:xfrm>
            <a:off x="2654418" y="5693798"/>
            <a:ext cx="7034490" cy="430887"/>
          </a:xfrm>
          <a:prstGeom prst="rect">
            <a:avLst/>
          </a:prstGeom>
          <a:noFill/>
        </p:spPr>
        <p:txBody>
          <a:bodyPr wrap="square" rtlCol="0">
            <a:spAutoFit/>
          </a:bodyPr>
          <a:lstStyle/>
          <a:p>
            <a:r>
              <a:rPr lang="en-US" sz="2200" b="1" dirty="0"/>
              <a:t>Highest number of rentals was observed in Jun and sept.</a:t>
            </a:r>
          </a:p>
        </p:txBody>
      </p:sp>
    </p:spTree>
    <p:extLst>
      <p:ext uri="{BB962C8B-B14F-4D97-AF65-F5344CB8AC3E}">
        <p14:creationId xmlns:p14="http://schemas.microsoft.com/office/powerpoint/2010/main" val="815571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18CD6A-5332-C997-DFCA-BEEDC1737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696" y="657694"/>
            <a:ext cx="7701786" cy="4424570"/>
          </a:xfrm>
          <a:prstGeom prst="rect">
            <a:avLst/>
          </a:prstGeom>
          <a:ln>
            <a:solidFill>
              <a:schemeClr val="tx1"/>
            </a:solidFill>
          </a:ln>
        </p:spPr>
      </p:pic>
      <p:sp>
        <p:nvSpPr>
          <p:cNvPr id="4" name="TextBox 3">
            <a:extLst>
              <a:ext uri="{FF2B5EF4-FFF2-40B4-BE49-F238E27FC236}">
                <a16:creationId xmlns:a16="http://schemas.microsoft.com/office/drawing/2014/main" id="{A9E998C4-D306-AD77-1B56-2202B8FE0276}"/>
              </a:ext>
            </a:extLst>
          </p:cNvPr>
          <p:cNvSpPr txBox="1"/>
          <p:nvPr/>
        </p:nvSpPr>
        <p:spPr>
          <a:xfrm>
            <a:off x="1878254" y="5430865"/>
            <a:ext cx="9097505" cy="769441"/>
          </a:xfrm>
          <a:prstGeom prst="rect">
            <a:avLst/>
          </a:prstGeom>
          <a:noFill/>
        </p:spPr>
        <p:txBody>
          <a:bodyPr wrap="square" rtlCol="0">
            <a:spAutoFit/>
          </a:bodyPr>
          <a:lstStyle/>
          <a:p>
            <a:r>
              <a:rPr lang="en-US" sz="2200" b="1" dirty="0"/>
              <a:t>This graph reveals that many of the rentals that are registered might be used for commuting to work.</a:t>
            </a:r>
            <a:endParaRPr lang="en-IN" sz="2200" b="1" dirty="0"/>
          </a:p>
        </p:txBody>
      </p:sp>
    </p:spTree>
    <p:extLst>
      <p:ext uri="{BB962C8B-B14F-4D97-AF65-F5344CB8AC3E}">
        <p14:creationId xmlns:p14="http://schemas.microsoft.com/office/powerpoint/2010/main" val="8923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FBC026-D618-F985-7204-E3B8F386A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3157" y="692003"/>
            <a:ext cx="8286340" cy="4449196"/>
          </a:xfrm>
          <a:prstGeom prst="rect">
            <a:avLst/>
          </a:prstGeom>
          <a:ln>
            <a:solidFill>
              <a:schemeClr val="tx1"/>
            </a:solidFill>
          </a:ln>
        </p:spPr>
      </p:pic>
      <p:sp>
        <p:nvSpPr>
          <p:cNvPr id="4" name="TextBox 3">
            <a:extLst>
              <a:ext uri="{FF2B5EF4-FFF2-40B4-BE49-F238E27FC236}">
                <a16:creationId xmlns:a16="http://schemas.microsoft.com/office/drawing/2014/main" id="{06B39108-0342-0A05-EC7A-4500E6B4224C}"/>
              </a:ext>
            </a:extLst>
          </p:cNvPr>
          <p:cNvSpPr txBox="1"/>
          <p:nvPr/>
        </p:nvSpPr>
        <p:spPr>
          <a:xfrm>
            <a:off x="1340545" y="5591272"/>
            <a:ext cx="10134905" cy="430887"/>
          </a:xfrm>
          <a:prstGeom prst="rect">
            <a:avLst/>
          </a:prstGeom>
          <a:noFill/>
        </p:spPr>
        <p:txBody>
          <a:bodyPr wrap="square" rtlCol="0">
            <a:spAutoFit/>
          </a:bodyPr>
          <a:lstStyle/>
          <a:p>
            <a:r>
              <a:rPr lang="en-US" sz="2200" b="1" dirty="0"/>
              <a:t>Similarly, when people have holidays , they are more likely to rent bikes casually.</a:t>
            </a:r>
          </a:p>
        </p:txBody>
      </p:sp>
    </p:spTree>
    <p:extLst>
      <p:ext uri="{BB962C8B-B14F-4D97-AF65-F5344CB8AC3E}">
        <p14:creationId xmlns:p14="http://schemas.microsoft.com/office/powerpoint/2010/main" val="3361031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BFA76C-440C-0650-235D-CDD60DB5C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7527" y="665311"/>
            <a:ext cx="8433342" cy="4588964"/>
          </a:xfrm>
          <a:prstGeom prst="rect">
            <a:avLst/>
          </a:prstGeom>
          <a:ln>
            <a:solidFill>
              <a:schemeClr val="tx1"/>
            </a:solidFill>
          </a:ln>
        </p:spPr>
      </p:pic>
      <p:sp>
        <p:nvSpPr>
          <p:cNvPr id="5" name="TextBox 4">
            <a:extLst>
              <a:ext uri="{FF2B5EF4-FFF2-40B4-BE49-F238E27FC236}">
                <a16:creationId xmlns:a16="http://schemas.microsoft.com/office/drawing/2014/main" id="{16E70BAB-EA76-44F0-73C5-EE54293DEDA7}"/>
              </a:ext>
            </a:extLst>
          </p:cNvPr>
          <p:cNvSpPr txBox="1"/>
          <p:nvPr/>
        </p:nvSpPr>
        <p:spPr>
          <a:xfrm>
            <a:off x="1307953" y="5569116"/>
            <a:ext cx="9252489" cy="430887"/>
          </a:xfrm>
          <a:prstGeom prst="rect">
            <a:avLst/>
          </a:prstGeom>
          <a:noFill/>
        </p:spPr>
        <p:txBody>
          <a:bodyPr wrap="square" rtlCol="0">
            <a:spAutoFit/>
          </a:bodyPr>
          <a:lstStyle/>
          <a:p>
            <a:r>
              <a:rPr lang="en-US" sz="2200" b="1" dirty="0"/>
              <a:t>This graph reveals that as temp increases, people are more likely to rent bikes</a:t>
            </a:r>
          </a:p>
        </p:txBody>
      </p:sp>
    </p:spTree>
    <p:extLst>
      <p:ext uri="{BB962C8B-B14F-4D97-AF65-F5344CB8AC3E}">
        <p14:creationId xmlns:p14="http://schemas.microsoft.com/office/powerpoint/2010/main" val="293175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017D44-7CA0-5FE7-A9FF-BC5483AA9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9702" y="530197"/>
            <a:ext cx="7842940" cy="4678801"/>
          </a:xfrm>
          <a:prstGeom prst="rect">
            <a:avLst/>
          </a:prstGeom>
          <a:ln>
            <a:solidFill>
              <a:schemeClr val="tx1"/>
            </a:solidFill>
          </a:ln>
        </p:spPr>
      </p:pic>
      <p:sp>
        <p:nvSpPr>
          <p:cNvPr id="4" name="TextBox 3">
            <a:extLst>
              <a:ext uri="{FF2B5EF4-FFF2-40B4-BE49-F238E27FC236}">
                <a16:creationId xmlns:a16="http://schemas.microsoft.com/office/drawing/2014/main" id="{76B41450-95E3-CD3D-AB65-4425F33F5ECB}"/>
              </a:ext>
            </a:extLst>
          </p:cNvPr>
          <p:cNvSpPr txBox="1"/>
          <p:nvPr/>
        </p:nvSpPr>
        <p:spPr>
          <a:xfrm>
            <a:off x="2149910" y="5478773"/>
            <a:ext cx="9066509" cy="769441"/>
          </a:xfrm>
          <a:prstGeom prst="rect">
            <a:avLst/>
          </a:prstGeom>
          <a:noFill/>
        </p:spPr>
        <p:txBody>
          <a:bodyPr wrap="square" rtlCol="0">
            <a:spAutoFit/>
          </a:bodyPr>
          <a:lstStyle/>
          <a:p>
            <a:r>
              <a:rPr lang="en-US" sz="2200" b="1" dirty="0"/>
              <a:t>This pattern suggests that registered users primarily use bikes for commuting or work-related activities during the week</a:t>
            </a:r>
          </a:p>
        </p:txBody>
      </p:sp>
    </p:spTree>
    <p:extLst>
      <p:ext uri="{BB962C8B-B14F-4D97-AF65-F5344CB8AC3E}">
        <p14:creationId xmlns:p14="http://schemas.microsoft.com/office/powerpoint/2010/main" val="3930714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5BD1CD-5535-BDFC-F9AA-1FDF3881D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6844" y="657787"/>
            <a:ext cx="8278311" cy="4427921"/>
          </a:xfrm>
          <a:prstGeom prst="rect">
            <a:avLst/>
          </a:prstGeom>
          <a:ln>
            <a:solidFill>
              <a:schemeClr val="tx1"/>
            </a:solidFill>
          </a:ln>
        </p:spPr>
      </p:pic>
      <p:sp>
        <p:nvSpPr>
          <p:cNvPr id="4" name="TextBox 3">
            <a:extLst>
              <a:ext uri="{FF2B5EF4-FFF2-40B4-BE49-F238E27FC236}">
                <a16:creationId xmlns:a16="http://schemas.microsoft.com/office/drawing/2014/main" id="{6D91E8C2-DD35-7C4A-B084-B98140220505}"/>
              </a:ext>
            </a:extLst>
          </p:cNvPr>
          <p:cNvSpPr txBox="1"/>
          <p:nvPr/>
        </p:nvSpPr>
        <p:spPr>
          <a:xfrm>
            <a:off x="2373270" y="5430772"/>
            <a:ext cx="8555065" cy="769441"/>
          </a:xfrm>
          <a:prstGeom prst="rect">
            <a:avLst/>
          </a:prstGeom>
          <a:noFill/>
        </p:spPr>
        <p:txBody>
          <a:bodyPr wrap="square" rtlCol="0">
            <a:spAutoFit/>
          </a:bodyPr>
          <a:lstStyle/>
          <a:p>
            <a:r>
              <a:rPr lang="en-US" sz="2200" b="1" dirty="0"/>
              <a:t>Most people rent bikes in the afternoon, morning and evening</a:t>
            </a:r>
          </a:p>
          <a:p>
            <a:r>
              <a:rPr lang="en-US" sz="2200" b="1" dirty="0"/>
              <a:t>Morning and Evening - High</a:t>
            </a:r>
            <a:endParaRPr lang="en-IN" sz="2200" b="1" dirty="0"/>
          </a:p>
        </p:txBody>
      </p:sp>
    </p:spTree>
    <p:extLst>
      <p:ext uri="{BB962C8B-B14F-4D97-AF65-F5344CB8AC3E}">
        <p14:creationId xmlns:p14="http://schemas.microsoft.com/office/powerpoint/2010/main" val="1908532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C74B7E-ED1A-5485-E982-1C61783CD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768" y="677272"/>
            <a:ext cx="8579938" cy="4417647"/>
          </a:xfrm>
          <a:prstGeom prst="rect">
            <a:avLst/>
          </a:prstGeom>
          <a:ln>
            <a:solidFill>
              <a:schemeClr val="tx1"/>
            </a:solidFill>
          </a:ln>
        </p:spPr>
      </p:pic>
      <p:sp>
        <p:nvSpPr>
          <p:cNvPr id="4" name="TextBox 3">
            <a:extLst>
              <a:ext uri="{FF2B5EF4-FFF2-40B4-BE49-F238E27FC236}">
                <a16:creationId xmlns:a16="http://schemas.microsoft.com/office/drawing/2014/main" id="{D25C0768-FFB0-CCF8-C677-C0491084E1D6}"/>
              </a:ext>
            </a:extLst>
          </p:cNvPr>
          <p:cNvSpPr txBox="1"/>
          <p:nvPr/>
        </p:nvSpPr>
        <p:spPr>
          <a:xfrm>
            <a:off x="1190786" y="5411287"/>
            <a:ext cx="9810428" cy="769441"/>
          </a:xfrm>
          <a:prstGeom prst="rect">
            <a:avLst/>
          </a:prstGeom>
          <a:noFill/>
        </p:spPr>
        <p:txBody>
          <a:bodyPr wrap="square" rtlCol="0">
            <a:spAutoFit/>
          </a:bodyPr>
          <a:lstStyle/>
          <a:p>
            <a:r>
              <a:rPr lang="en-US" sz="2200" b="1" dirty="0"/>
              <a:t>We can see that there is high </a:t>
            </a:r>
            <a:r>
              <a:rPr lang="en-US" sz="2200" b="1" dirty="0" err="1"/>
              <a:t>corr</a:t>
            </a:r>
            <a:r>
              <a:rPr lang="en-US" sz="2200" b="1" dirty="0"/>
              <a:t> between temp and </a:t>
            </a:r>
            <a:r>
              <a:rPr lang="en-US" sz="2200" b="1" dirty="0" err="1"/>
              <a:t>atemp</a:t>
            </a:r>
            <a:r>
              <a:rPr lang="en-US" sz="2200" b="1" dirty="0"/>
              <a:t> , so we can drop one column during modelling</a:t>
            </a:r>
            <a:endParaRPr lang="en-IN" sz="2200" b="1" dirty="0"/>
          </a:p>
        </p:txBody>
      </p:sp>
    </p:spTree>
    <p:extLst>
      <p:ext uri="{BB962C8B-B14F-4D97-AF65-F5344CB8AC3E}">
        <p14:creationId xmlns:p14="http://schemas.microsoft.com/office/powerpoint/2010/main" val="1450468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12D39-8918-3978-EC56-E7DFE06C8925}"/>
              </a:ext>
            </a:extLst>
          </p:cNvPr>
          <p:cNvSpPr>
            <a:spLocks noGrp="1"/>
          </p:cNvSpPr>
          <p:nvPr>
            <p:ph type="title"/>
          </p:nvPr>
        </p:nvSpPr>
        <p:spPr/>
        <p:txBody>
          <a:bodyPr/>
          <a:lstStyle/>
          <a:p>
            <a:r>
              <a:rPr lang="en-US" b="1" dirty="0"/>
              <a:t>Modelling</a:t>
            </a:r>
            <a:endParaRPr lang="en-IN" b="1" dirty="0"/>
          </a:p>
        </p:txBody>
      </p:sp>
    </p:spTree>
    <p:extLst>
      <p:ext uri="{BB962C8B-B14F-4D97-AF65-F5344CB8AC3E}">
        <p14:creationId xmlns:p14="http://schemas.microsoft.com/office/powerpoint/2010/main" val="1948561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897C-F4B0-B454-5246-7253987D2503}"/>
              </a:ext>
            </a:extLst>
          </p:cNvPr>
          <p:cNvSpPr>
            <a:spLocks noGrp="1"/>
          </p:cNvSpPr>
          <p:nvPr>
            <p:ph type="title"/>
          </p:nvPr>
        </p:nvSpPr>
        <p:spPr/>
        <p:txBody>
          <a:bodyPr/>
          <a:lstStyle/>
          <a:p>
            <a:r>
              <a:rPr lang="en-US" b="1" dirty="0"/>
              <a:t>Modelling</a:t>
            </a:r>
            <a:endParaRPr lang="en-IN" b="1" dirty="0"/>
          </a:p>
        </p:txBody>
      </p:sp>
      <p:sp>
        <p:nvSpPr>
          <p:cNvPr id="3" name="Content Placeholder 2">
            <a:extLst>
              <a:ext uri="{FF2B5EF4-FFF2-40B4-BE49-F238E27FC236}">
                <a16:creationId xmlns:a16="http://schemas.microsoft.com/office/drawing/2014/main" id="{D39F9A83-16A7-6F0B-16D4-87F89BA43466}"/>
              </a:ext>
            </a:extLst>
          </p:cNvPr>
          <p:cNvSpPr>
            <a:spLocks noGrp="1"/>
          </p:cNvSpPr>
          <p:nvPr>
            <p:ph idx="1"/>
          </p:nvPr>
        </p:nvSpPr>
        <p:spPr/>
        <p:txBody>
          <a:bodyPr/>
          <a:lstStyle/>
          <a:p>
            <a:r>
              <a:rPr lang="en-US" dirty="0"/>
              <a:t>For the model, we tried 3 regression models - </a:t>
            </a:r>
            <a:r>
              <a:rPr lang="en-US" b="1" u="sng" dirty="0"/>
              <a:t>XGBoostRegressor</a:t>
            </a:r>
            <a:r>
              <a:rPr lang="en-US" dirty="0"/>
              <a:t> , </a:t>
            </a:r>
            <a:r>
              <a:rPr lang="en-US" b="1" u="sng" dirty="0"/>
              <a:t>RandomforestRegressor</a:t>
            </a:r>
            <a:r>
              <a:rPr lang="en-US" dirty="0"/>
              <a:t> and </a:t>
            </a:r>
            <a:r>
              <a:rPr lang="en-US" b="1" u="sng" dirty="0" err="1"/>
              <a:t>DecisionTreeRegressor</a:t>
            </a:r>
            <a:endParaRPr lang="en-US" b="1" u="sng" dirty="0"/>
          </a:p>
          <a:p>
            <a:r>
              <a:rPr lang="en-US" dirty="0"/>
              <a:t>The best result was obtained using XGBoostRegressor</a:t>
            </a:r>
          </a:p>
          <a:p>
            <a:r>
              <a:rPr lang="en-US" dirty="0"/>
              <a:t>The objective function was </a:t>
            </a:r>
            <a:r>
              <a:rPr lang="en-IN" dirty="0"/>
              <a:t>squared error</a:t>
            </a:r>
          </a:p>
          <a:p>
            <a:r>
              <a:rPr lang="en-IN" b="1" u="sng" dirty="0"/>
              <a:t>Evaluation Metrics:</a:t>
            </a:r>
          </a:p>
          <a:p>
            <a:pPr lvl="1">
              <a:buFont typeface="Wingdings" panose="05000000000000000000" pitchFamily="2" charset="2"/>
              <a:buChar char="Ø"/>
            </a:pPr>
            <a:r>
              <a:rPr lang="en-IN" sz="2200" dirty="0"/>
              <a:t>R² Score</a:t>
            </a:r>
          </a:p>
          <a:p>
            <a:pPr lvl="1">
              <a:buFont typeface="Wingdings" panose="05000000000000000000" pitchFamily="2" charset="2"/>
              <a:buChar char="Ø"/>
            </a:pPr>
            <a:r>
              <a:rPr lang="en-IN" sz="2200" dirty="0"/>
              <a:t>MAE</a:t>
            </a:r>
          </a:p>
          <a:p>
            <a:pPr lvl="1">
              <a:buFont typeface="Wingdings" panose="05000000000000000000" pitchFamily="2" charset="2"/>
              <a:buChar char="Ø"/>
            </a:pPr>
            <a:r>
              <a:rPr lang="en-IN" sz="2200" dirty="0"/>
              <a:t>RMSE</a:t>
            </a:r>
          </a:p>
          <a:p>
            <a:endParaRPr lang="en-IN" dirty="0"/>
          </a:p>
          <a:p>
            <a:endParaRPr lang="en-US" dirty="0"/>
          </a:p>
          <a:p>
            <a:endParaRPr lang="en-US" dirty="0"/>
          </a:p>
          <a:p>
            <a:endParaRPr lang="en-IN" dirty="0"/>
          </a:p>
        </p:txBody>
      </p:sp>
    </p:spTree>
    <p:extLst>
      <p:ext uri="{BB962C8B-B14F-4D97-AF65-F5344CB8AC3E}">
        <p14:creationId xmlns:p14="http://schemas.microsoft.com/office/powerpoint/2010/main" val="76977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88C62-DDDD-E6E1-EBD9-D658F6B3645B}"/>
              </a:ext>
            </a:extLst>
          </p:cNvPr>
          <p:cNvSpPr>
            <a:spLocks noGrp="1"/>
          </p:cNvSpPr>
          <p:nvPr>
            <p:ph type="title"/>
          </p:nvPr>
        </p:nvSpPr>
        <p:spPr/>
        <p:txBody>
          <a:bodyPr/>
          <a:lstStyle/>
          <a:p>
            <a:r>
              <a:rPr lang="en-US" b="1" dirty="0"/>
              <a:t>XGBoostRegressor</a:t>
            </a:r>
            <a:endParaRPr lang="en-IN" b="1" dirty="0"/>
          </a:p>
        </p:txBody>
      </p:sp>
      <p:sp>
        <p:nvSpPr>
          <p:cNvPr id="3" name="Content Placeholder 2">
            <a:extLst>
              <a:ext uri="{FF2B5EF4-FFF2-40B4-BE49-F238E27FC236}">
                <a16:creationId xmlns:a16="http://schemas.microsoft.com/office/drawing/2014/main" id="{C0EEC1BA-D5DB-165E-8C2A-CA65B27BB037}"/>
              </a:ext>
            </a:extLst>
          </p:cNvPr>
          <p:cNvSpPr>
            <a:spLocks noGrp="1"/>
          </p:cNvSpPr>
          <p:nvPr>
            <p:ph idx="1"/>
          </p:nvPr>
        </p:nvSpPr>
        <p:spPr/>
        <p:txBody>
          <a:bodyPr/>
          <a:lstStyle/>
          <a:p>
            <a:r>
              <a:rPr lang="en-US" dirty="0"/>
              <a:t>The values for the hyperparameters for the </a:t>
            </a:r>
            <a:r>
              <a:rPr lang="en-US" dirty="0" err="1"/>
              <a:t>XboostRegressor</a:t>
            </a:r>
            <a:r>
              <a:rPr lang="en-US" dirty="0"/>
              <a:t> model was obtained by using </a:t>
            </a:r>
            <a:r>
              <a:rPr lang="en-US" dirty="0" err="1"/>
              <a:t>GridsearchCV</a:t>
            </a:r>
            <a:endParaRPr lang="en-US" dirty="0"/>
          </a:p>
          <a:p>
            <a:r>
              <a:rPr lang="en-US" b="1" u="sng" dirty="0"/>
              <a:t>The best values of the hyperparameters were :</a:t>
            </a:r>
          </a:p>
          <a:p>
            <a:pPr>
              <a:buFont typeface="Wingdings" panose="05000000000000000000" pitchFamily="2" charset="2"/>
              <a:buChar char="Ø"/>
            </a:pPr>
            <a:r>
              <a:rPr lang="en-US" dirty="0" err="1"/>
              <a:t>n_estimators</a:t>
            </a:r>
            <a:r>
              <a:rPr lang="en-US" dirty="0"/>
              <a:t>=700</a:t>
            </a:r>
          </a:p>
          <a:p>
            <a:pPr>
              <a:buFont typeface="Wingdings" panose="05000000000000000000" pitchFamily="2" charset="2"/>
              <a:buChar char="Ø"/>
            </a:pPr>
            <a:r>
              <a:rPr lang="en-US" dirty="0" err="1"/>
              <a:t>max_depth</a:t>
            </a:r>
            <a:r>
              <a:rPr lang="en-US" dirty="0"/>
              <a:t>=4</a:t>
            </a:r>
          </a:p>
          <a:p>
            <a:pPr>
              <a:buFont typeface="Wingdings" panose="05000000000000000000" pitchFamily="2" charset="2"/>
              <a:buChar char="Ø"/>
            </a:pPr>
            <a:r>
              <a:rPr lang="en-US" dirty="0" err="1"/>
              <a:t>learning_rate</a:t>
            </a:r>
            <a:r>
              <a:rPr lang="en-US" dirty="0"/>
              <a:t>=0.1</a:t>
            </a:r>
          </a:p>
          <a:p>
            <a:pPr>
              <a:buFont typeface="Wingdings" panose="05000000000000000000" pitchFamily="2" charset="2"/>
              <a:buChar char="Ø"/>
            </a:pPr>
            <a:r>
              <a:rPr lang="en-US" dirty="0"/>
              <a:t>subsample=0.9</a:t>
            </a:r>
          </a:p>
          <a:p>
            <a:pPr>
              <a:buFont typeface="Wingdings" panose="05000000000000000000" pitchFamily="2" charset="2"/>
              <a:buChar char="Ø"/>
            </a:pPr>
            <a:r>
              <a:rPr lang="en-US" dirty="0" err="1"/>
              <a:t>colsample_bytree</a:t>
            </a:r>
            <a:r>
              <a:rPr lang="en-US" dirty="0"/>
              <a:t>=0.8</a:t>
            </a:r>
          </a:p>
          <a:p>
            <a:pPr marL="0" indent="0">
              <a:buNone/>
            </a:pPr>
            <a:endParaRPr lang="en-IN" dirty="0"/>
          </a:p>
        </p:txBody>
      </p:sp>
    </p:spTree>
    <p:extLst>
      <p:ext uri="{BB962C8B-B14F-4D97-AF65-F5344CB8AC3E}">
        <p14:creationId xmlns:p14="http://schemas.microsoft.com/office/powerpoint/2010/main" val="2905071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073F-D537-7042-BF7F-3AA1376E7882}"/>
              </a:ext>
            </a:extLst>
          </p:cNvPr>
          <p:cNvSpPr>
            <a:spLocks noGrp="1"/>
          </p:cNvSpPr>
          <p:nvPr>
            <p:ph type="title"/>
          </p:nvPr>
        </p:nvSpPr>
        <p:spPr/>
        <p:txBody>
          <a:bodyPr/>
          <a:lstStyle/>
          <a:p>
            <a:r>
              <a:rPr lang="en-US" b="1" dirty="0"/>
              <a:t>Evaluation </a:t>
            </a:r>
            <a:endParaRPr lang="en-IN" b="1" dirty="0"/>
          </a:p>
        </p:txBody>
      </p:sp>
      <p:sp>
        <p:nvSpPr>
          <p:cNvPr id="3" name="Content Placeholder 2">
            <a:extLst>
              <a:ext uri="{FF2B5EF4-FFF2-40B4-BE49-F238E27FC236}">
                <a16:creationId xmlns:a16="http://schemas.microsoft.com/office/drawing/2014/main" id="{0867B640-B242-2E1B-641E-D6B8CA93A1E7}"/>
              </a:ext>
            </a:extLst>
          </p:cNvPr>
          <p:cNvSpPr>
            <a:spLocks noGrp="1"/>
          </p:cNvSpPr>
          <p:nvPr>
            <p:ph idx="1"/>
          </p:nvPr>
        </p:nvSpPr>
        <p:spPr/>
        <p:txBody>
          <a:bodyPr/>
          <a:lstStyle/>
          <a:p>
            <a:r>
              <a:rPr lang="en-US" dirty="0"/>
              <a:t>Using the tuned values of the hyperparameters, we were able to get the following score for different evaluation metrics</a:t>
            </a:r>
          </a:p>
          <a:p>
            <a:pPr>
              <a:buFont typeface="Wingdings" panose="05000000000000000000" pitchFamily="2" charset="2"/>
              <a:buChar char="Ø"/>
            </a:pPr>
            <a:r>
              <a:rPr lang="en-IN" dirty="0"/>
              <a:t>MAE – 49.93</a:t>
            </a:r>
          </a:p>
          <a:p>
            <a:pPr>
              <a:buFont typeface="Wingdings" panose="05000000000000000000" pitchFamily="2" charset="2"/>
              <a:buChar char="Ø"/>
            </a:pPr>
            <a:r>
              <a:rPr lang="en-IN" dirty="0"/>
              <a:t>RMSE – 72.70</a:t>
            </a:r>
          </a:p>
          <a:p>
            <a:pPr>
              <a:buFont typeface="Wingdings" panose="05000000000000000000" pitchFamily="2" charset="2"/>
              <a:buChar char="Ø"/>
            </a:pPr>
            <a:r>
              <a:rPr lang="en-IN" dirty="0"/>
              <a:t>R2 Score – 88%</a:t>
            </a:r>
          </a:p>
        </p:txBody>
      </p:sp>
    </p:spTree>
    <p:extLst>
      <p:ext uri="{BB962C8B-B14F-4D97-AF65-F5344CB8AC3E}">
        <p14:creationId xmlns:p14="http://schemas.microsoft.com/office/powerpoint/2010/main" val="4126703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BFF34-736B-20B9-D031-835A90B2A253}"/>
              </a:ext>
            </a:extLst>
          </p:cNvPr>
          <p:cNvSpPr>
            <a:spLocks noGrp="1"/>
          </p:cNvSpPr>
          <p:nvPr>
            <p:ph type="ctrTitle"/>
          </p:nvPr>
        </p:nvSpPr>
        <p:spPr/>
        <p:txBody>
          <a:bodyPr/>
          <a:lstStyle/>
          <a:p>
            <a:r>
              <a:rPr lang="en-US" b="1" dirty="0"/>
              <a:t>Deployment</a:t>
            </a:r>
            <a:endParaRPr lang="en-IN" b="1" dirty="0"/>
          </a:p>
        </p:txBody>
      </p:sp>
    </p:spTree>
    <p:extLst>
      <p:ext uri="{BB962C8B-B14F-4D97-AF65-F5344CB8AC3E}">
        <p14:creationId xmlns:p14="http://schemas.microsoft.com/office/powerpoint/2010/main" val="2632117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01A9E-6C80-F6A3-6B3C-E9CBB99BF60B}"/>
              </a:ext>
            </a:extLst>
          </p:cNvPr>
          <p:cNvSpPr>
            <a:spLocks noGrp="1"/>
          </p:cNvSpPr>
          <p:nvPr>
            <p:ph type="title"/>
          </p:nvPr>
        </p:nvSpPr>
        <p:spPr/>
        <p:txBody>
          <a:bodyPr/>
          <a:lstStyle/>
          <a:p>
            <a:r>
              <a:rPr lang="en-US" b="1" dirty="0"/>
              <a:t>Deployment on </a:t>
            </a:r>
            <a:r>
              <a:rPr lang="en-US" b="1" dirty="0" err="1"/>
              <a:t>Streamlit</a:t>
            </a:r>
            <a:endParaRPr lang="en-IN" b="1" dirty="0"/>
          </a:p>
        </p:txBody>
      </p:sp>
      <p:sp>
        <p:nvSpPr>
          <p:cNvPr id="3" name="Content Placeholder 2">
            <a:extLst>
              <a:ext uri="{FF2B5EF4-FFF2-40B4-BE49-F238E27FC236}">
                <a16:creationId xmlns:a16="http://schemas.microsoft.com/office/drawing/2014/main" id="{A204E569-B65C-7B0C-2AFA-16C710B970BB}"/>
              </a:ext>
            </a:extLst>
          </p:cNvPr>
          <p:cNvSpPr>
            <a:spLocks noGrp="1"/>
          </p:cNvSpPr>
          <p:nvPr>
            <p:ph idx="1"/>
          </p:nvPr>
        </p:nvSpPr>
        <p:spPr/>
        <p:txBody>
          <a:bodyPr/>
          <a:lstStyle/>
          <a:p>
            <a:r>
              <a:rPr lang="en-US" b="1" dirty="0"/>
              <a:t>This application is designed for deployment on </a:t>
            </a:r>
            <a:r>
              <a:rPr lang="en-US" b="1" dirty="0" err="1"/>
              <a:t>Streamlit</a:t>
            </a:r>
            <a:r>
              <a:rPr lang="en-US" b="1" dirty="0"/>
              <a:t> Cloud</a:t>
            </a:r>
          </a:p>
          <a:p>
            <a:pPr marL="0" indent="0">
              <a:buNone/>
            </a:pPr>
            <a:r>
              <a:rPr lang="en-US" b="1" dirty="0"/>
              <a:t> </a:t>
            </a:r>
            <a:r>
              <a:rPr lang="en-US" b="1" u="sng" dirty="0"/>
              <a:t>To use the app :</a:t>
            </a:r>
          </a:p>
          <a:p>
            <a:pPr>
              <a:buFont typeface="Wingdings" panose="05000000000000000000" pitchFamily="2" charset="2"/>
              <a:buChar char="Ø"/>
            </a:pPr>
            <a:r>
              <a:rPr lang="en-US" dirty="0"/>
              <a:t>Launch the application</a:t>
            </a:r>
          </a:p>
          <a:p>
            <a:pPr>
              <a:buFont typeface="Wingdings" panose="05000000000000000000" pitchFamily="2" charset="2"/>
              <a:buChar char="Ø"/>
            </a:pPr>
            <a:r>
              <a:rPr lang="en-US" dirty="0"/>
              <a:t>Provide input values through the sidebar</a:t>
            </a:r>
          </a:p>
          <a:p>
            <a:pPr>
              <a:buFont typeface="Wingdings" panose="05000000000000000000" pitchFamily="2" charset="2"/>
              <a:buChar char="Ø"/>
            </a:pPr>
            <a:r>
              <a:rPr lang="en-US" dirty="0"/>
              <a:t>Click the prediction button</a:t>
            </a:r>
          </a:p>
          <a:p>
            <a:pPr>
              <a:buFont typeface="Wingdings" panose="05000000000000000000" pitchFamily="2" charset="2"/>
              <a:buChar char="Ø"/>
            </a:pPr>
            <a:r>
              <a:rPr lang="en-US" dirty="0"/>
              <a:t>View predicted bike rental count</a:t>
            </a:r>
          </a:p>
          <a:p>
            <a:pPr marL="0" indent="0">
              <a:buNone/>
            </a:pPr>
            <a:endParaRPr lang="en-US" dirty="0"/>
          </a:p>
        </p:txBody>
      </p:sp>
    </p:spTree>
    <p:extLst>
      <p:ext uri="{BB962C8B-B14F-4D97-AF65-F5344CB8AC3E}">
        <p14:creationId xmlns:p14="http://schemas.microsoft.com/office/powerpoint/2010/main" val="1980831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D94123-23D5-AB31-34AB-9C01E2065B66}"/>
              </a:ext>
            </a:extLst>
          </p:cNvPr>
          <p:cNvSpPr>
            <a:spLocks noGrp="1"/>
          </p:cNvSpPr>
          <p:nvPr>
            <p:ph type="title"/>
          </p:nvPr>
        </p:nvSpPr>
        <p:spPr/>
        <p:txBody>
          <a:bodyPr/>
          <a:lstStyle/>
          <a:p>
            <a:r>
              <a:rPr lang="en-US" b="1" dirty="0"/>
              <a:t>Requirements</a:t>
            </a:r>
            <a:r>
              <a:rPr lang="en-US" dirty="0"/>
              <a:t> </a:t>
            </a:r>
            <a:endParaRPr lang="en-IN" dirty="0"/>
          </a:p>
        </p:txBody>
      </p:sp>
      <p:sp>
        <p:nvSpPr>
          <p:cNvPr id="4" name="Content Placeholder 3">
            <a:extLst>
              <a:ext uri="{FF2B5EF4-FFF2-40B4-BE49-F238E27FC236}">
                <a16:creationId xmlns:a16="http://schemas.microsoft.com/office/drawing/2014/main" id="{2B39ADAF-3640-5783-FB8F-CF486A6F309E}"/>
              </a:ext>
            </a:extLst>
          </p:cNvPr>
          <p:cNvSpPr>
            <a:spLocks noGrp="1"/>
          </p:cNvSpPr>
          <p:nvPr>
            <p:ph idx="1"/>
          </p:nvPr>
        </p:nvSpPr>
        <p:spPr/>
        <p:txBody>
          <a:bodyPr/>
          <a:lstStyle/>
          <a:p>
            <a:pPr>
              <a:buFont typeface="Wingdings" panose="05000000000000000000" pitchFamily="2" charset="2"/>
              <a:buChar char="Ø"/>
            </a:pPr>
            <a:r>
              <a:rPr lang="en-IN" dirty="0" err="1"/>
              <a:t>joblib</a:t>
            </a:r>
            <a:r>
              <a:rPr lang="en-IN" dirty="0"/>
              <a:t>==1.5.3</a:t>
            </a:r>
          </a:p>
          <a:p>
            <a:pPr>
              <a:buFont typeface="Wingdings" panose="05000000000000000000" pitchFamily="2" charset="2"/>
              <a:buChar char="Ø"/>
            </a:pPr>
            <a:r>
              <a:rPr lang="en-IN" dirty="0" err="1"/>
              <a:t>numpy</a:t>
            </a:r>
            <a:r>
              <a:rPr lang="en-IN" dirty="0"/>
              <a:t>==2.4.2</a:t>
            </a:r>
          </a:p>
          <a:p>
            <a:pPr>
              <a:buFont typeface="Wingdings" panose="05000000000000000000" pitchFamily="2" charset="2"/>
              <a:buChar char="Ø"/>
            </a:pPr>
            <a:r>
              <a:rPr lang="en-IN" dirty="0"/>
              <a:t>pandas==2.3.3</a:t>
            </a:r>
          </a:p>
          <a:p>
            <a:pPr>
              <a:buFont typeface="Wingdings" panose="05000000000000000000" pitchFamily="2" charset="2"/>
              <a:buChar char="Ø"/>
            </a:pPr>
            <a:r>
              <a:rPr lang="en-IN" dirty="0"/>
              <a:t>scikit-learn==1.8.0</a:t>
            </a:r>
          </a:p>
          <a:p>
            <a:pPr>
              <a:buFont typeface="Wingdings" panose="05000000000000000000" pitchFamily="2" charset="2"/>
              <a:buChar char="Ø"/>
            </a:pPr>
            <a:r>
              <a:rPr lang="en-IN" dirty="0" err="1"/>
              <a:t>streamlit</a:t>
            </a:r>
            <a:r>
              <a:rPr lang="en-IN" dirty="0"/>
              <a:t>==1.54.0</a:t>
            </a:r>
          </a:p>
          <a:p>
            <a:pPr>
              <a:buFont typeface="Wingdings" panose="05000000000000000000" pitchFamily="2" charset="2"/>
              <a:buChar char="Ø"/>
            </a:pPr>
            <a:r>
              <a:rPr lang="en-IN" dirty="0" err="1"/>
              <a:t>xgboost</a:t>
            </a:r>
            <a:r>
              <a:rPr lang="en-IN" dirty="0"/>
              <a:t>==3.1.3</a:t>
            </a:r>
          </a:p>
          <a:p>
            <a:pPr>
              <a:buFont typeface="Wingdings" panose="05000000000000000000" pitchFamily="2" charset="2"/>
              <a:buChar char="Ø"/>
            </a:pPr>
            <a:r>
              <a:rPr lang="en-IN" dirty="0"/>
              <a:t>Python 3.12.3</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0277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815AE8-C068-B5BE-477D-EA2748F8D8FE}"/>
              </a:ext>
            </a:extLst>
          </p:cNvPr>
          <p:cNvPicPr>
            <a:picLocks noChangeAspect="1"/>
          </p:cNvPicPr>
          <p:nvPr/>
        </p:nvPicPr>
        <p:blipFill>
          <a:blip r:embed="rId2"/>
          <a:srcRect t="58983"/>
          <a:stretch>
            <a:fillRect/>
          </a:stretch>
        </p:blipFill>
        <p:spPr>
          <a:xfrm>
            <a:off x="914400" y="959332"/>
            <a:ext cx="10554346" cy="5147000"/>
          </a:xfrm>
          <a:prstGeom prst="rect">
            <a:avLst/>
          </a:prstGeom>
        </p:spPr>
      </p:pic>
    </p:spTree>
    <p:extLst>
      <p:ext uri="{BB962C8B-B14F-4D97-AF65-F5344CB8AC3E}">
        <p14:creationId xmlns:p14="http://schemas.microsoft.com/office/powerpoint/2010/main" val="4247554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6975-0B01-EE51-DE3F-EC1DE4EE0865}"/>
              </a:ext>
            </a:extLst>
          </p:cNvPr>
          <p:cNvSpPr>
            <a:spLocks noGrp="1"/>
          </p:cNvSpPr>
          <p:nvPr>
            <p:ph type="ctrTitle"/>
          </p:nvPr>
        </p:nvSpPr>
        <p:spPr/>
        <p:txBody>
          <a:bodyPr/>
          <a:lstStyle/>
          <a:p>
            <a:r>
              <a:rPr lang="en-US" b="1" dirty="0"/>
              <a:t>Challenges Faced During the Project</a:t>
            </a:r>
            <a:endParaRPr lang="en-IN" b="1" dirty="0"/>
          </a:p>
        </p:txBody>
      </p:sp>
    </p:spTree>
    <p:extLst>
      <p:ext uri="{BB962C8B-B14F-4D97-AF65-F5344CB8AC3E}">
        <p14:creationId xmlns:p14="http://schemas.microsoft.com/office/powerpoint/2010/main" val="240142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4B88A-4E92-C917-4533-FD8F634937AF}"/>
              </a:ext>
            </a:extLst>
          </p:cNvPr>
          <p:cNvSpPr>
            <a:spLocks noGrp="1"/>
          </p:cNvSpPr>
          <p:nvPr>
            <p:ph type="title"/>
          </p:nvPr>
        </p:nvSpPr>
        <p:spPr/>
        <p:txBody>
          <a:bodyPr/>
          <a:lstStyle/>
          <a:p>
            <a:r>
              <a:rPr lang="en-US" b="1" dirty="0"/>
              <a:t>Challenges Faced During the Project</a:t>
            </a:r>
            <a:endParaRPr lang="en-IN" b="1" dirty="0"/>
          </a:p>
        </p:txBody>
      </p:sp>
      <p:sp>
        <p:nvSpPr>
          <p:cNvPr id="3" name="Content Placeholder 2">
            <a:extLst>
              <a:ext uri="{FF2B5EF4-FFF2-40B4-BE49-F238E27FC236}">
                <a16:creationId xmlns:a16="http://schemas.microsoft.com/office/drawing/2014/main" id="{752DC185-9D6F-5333-7CDC-5A63A76C257F}"/>
              </a:ext>
            </a:extLst>
          </p:cNvPr>
          <p:cNvSpPr>
            <a:spLocks noGrp="1"/>
          </p:cNvSpPr>
          <p:nvPr>
            <p:ph idx="1"/>
          </p:nvPr>
        </p:nvSpPr>
        <p:spPr/>
        <p:txBody>
          <a:bodyPr>
            <a:normAutofit/>
          </a:bodyPr>
          <a:lstStyle/>
          <a:p>
            <a:r>
              <a:rPr lang="en-US" dirty="0"/>
              <a:t>Incorrect data types (numeric columns stored as objects)</a:t>
            </a:r>
          </a:p>
          <a:p>
            <a:r>
              <a:rPr lang="en-US" dirty="0"/>
              <a:t>Avoiding overfitting in tree-based models</a:t>
            </a:r>
          </a:p>
          <a:p>
            <a:r>
              <a:rPr lang="en-US" dirty="0"/>
              <a:t>Choosing appropriate encoding for categorical features</a:t>
            </a:r>
          </a:p>
          <a:p>
            <a:r>
              <a:rPr lang="en-US" dirty="0"/>
              <a:t>Ensuring proper train-test split for realistic evaluation</a:t>
            </a:r>
          </a:p>
          <a:p>
            <a:r>
              <a:rPr lang="en-US" dirty="0"/>
              <a:t>Version mismatch between local environment and </a:t>
            </a:r>
            <a:r>
              <a:rPr lang="en-US" dirty="0" err="1"/>
              <a:t>Streamlit</a:t>
            </a:r>
            <a:r>
              <a:rPr lang="en-US" dirty="0"/>
              <a:t> cloud</a:t>
            </a:r>
          </a:p>
          <a:p>
            <a:r>
              <a:rPr lang="en-US" dirty="0"/>
              <a:t>Debugging model loading errors in production</a:t>
            </a:r>
          </a:p>
          <a:p>
            <a:endParaRPr lang="en-IN" dirty="0"/>
          </a:p>
        </p:txBody>
      </p:sp>
    </p:spTree>
    <p:extLst>
      <p:ext uri="{BB962C8B-B14F-4D97-AF65-F5344CB8AC3E}">
        <p14:creationId xmlns:p14="http://schemas.microsoft.com/office/powerpoint/2010/main" val="3590151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9B5A-19BB-6B55-7AB5-4D0C164C726A}"/>
              </a:ext>
            </a:extLst>
          </p:cNvPr>
          <p:cNvSpPr>
            <a:spLocks noGrp="1"/>
          </p:cNvSpPr>
          <p:nvPr>
            <p:ph type="ctrTitle"/>
          </p:nvPr>
        </p:nvSpPr>
        <p:spPr/>
        <p:txBody>
          <a:bodyPr>
            <a:normAutofit fontScale="90000"/>
          </a:bodyPr>
          <a:lstStyle/>
          <a:p>
            <a:br>
              <a:rPr lang="en-US" sz="5400" b="1" dirty="0"/>
            </a:br>
            <a:r>
              <a:rPr lang="en-US" sz="5400" b="1" dirty="0"/>
              <a:t>Thank You!</a:t>
            </a:r>
            <a:br>
              <a:rPr lang="en-US" sz="5400" b="1" dirty="0"/>
            </a:br>
            <a:endParaRPr lang="en-IN" sz="5400" b="1" dirty="0"/>
          </a:p>
        </p:txBody>
      </p:sp>
    </p:spTree>
    <p:extLst>
      <p:ext uri="{BB962C8B-B14F-4D97-AF65-F5344CB8AC3E}">
        <p14:creationId xmlns:p14="http://schemas.microsoft.com/office/powerpoint/2010/main" val="1320632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130</TotalTime>
  <Words>697</Words>
  <Application>Microsoft Office PowerPoint</Application>
  <PresentationFormat>Widescreen</PresentationFormat>
  <Paragraphs>91</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Calibri</vt:lpstr>
      <vt:lpstr>Tw Cen MT</vt:lpstr>
      <vt:lpstr>Tw Cen MT Condensed</vt:lpstr>
      <vt:lpstr>Wingdings</vt:lpstr>
      <vt:lpstr>Wingdings 3</vt:lpstr>
      <vt:lpstr>Integral</vt:lpstr>
      <vt:lpstr>P634-Bike Rental  Regression</vt:lpstr>
      <vt:lpstr>Mentor and Teammates</vt:lpstr>
      <vt:lpstr>Objective </vt:lpstr>
      <vt:lpstr>Exploratory Data Analysis</vt:lpstr>
      <vt:lpstr>Dataset </vt:lpstr>
      <vt:lpstr>PowerPoint Presentation</vt:lpstr>
      <vt:lpstr>Data Imputation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Modelling</vt:lpstr>
      <vt:lpstr>Modelling</vt:lpstr>
      <vt:lpstr>XGBoostRegressor</vt:lpstr>
      <vt:lpstr>Evaluation </vt:lpstr>
      <vt:lpstr>Deployment</vt:lpstr>
      <vt:lpstr>Deployment on Streamlit</vt:lpstr>
      <vt:lpstr>Requirements </vt:lpstr>
      <vt:lpstr>PowerPoint Presentation</vt:lpstr>
      <vt:lpstr>Challenges Faced During the Project</vt:lpstr>
      <vt:lpstr>Challenges Faced During the Project</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joshi</dc:creator>
  <cp:lastModifiedBy>harsh joshi</cp:lastModifiedBy>
  <cp:revision>6</cp:revision>
  <dcterms:created xsi:type="dcterms:W3CDTF">2026-02-13T09:40:08Z</dcterms:created>
  <dcterms:modified xsi:type="dcterms:W3CDTF">2026-02-15T12:41:32Z</dcterms:modified>
</cp:coreProperties>
</file>